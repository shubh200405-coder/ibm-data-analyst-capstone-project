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56" r:id="rId5"/>
    <p:sldId id="257" r:id="rId6"/>
    <p:sldId id="260" r:id="rId7"/>
    <p:sldId id="261" r:id="rId8"/>
    <p:sldId id="262" r:id="rId9"/>
    <p:sldId id="263" r:id="rId10"/>
    <p:sldId id="258" r:id="rId11"/>
    <p:sldId id="264" r:id="rId12"/>
    <p:sldId id="278" r:id="rId13"/>
    <p:sldId id="279" r:id="rId14"/>
    <p:sldId id="267" r:id="rId15"/>
    <p:sldId id="268" r:id="rId16"/>
    <p:sldId id="269" r:id="rId17"/>
    <p:sldId id="270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65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4CC9B6-A6C2-46C7-BBB9-C6A60C5C4540}" v="35" dt="2020-10-29T00:07:35.914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07" autoAdjust="0"/>
    <p:restoredTop sz="91905" autoAdjust="0"/>
  </p:normalViewPr>
  <p:slideViewPr>
    <p:cSldViewPr snapToGrid="0" snapToObjects="1" showGuides="1">
      <p:cViewPr varScale="1">
        <p:scale>
          <a:sx n="78" d="100"/>
          <a:sy n="78" d="100"/>
        </p:scale>
        <p:origin x="114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samueladigun\Documents\IBM%20material\Capstone%20Project\APIs\job-posting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samueladigun\Documents\IBM%20material\Capstone%20Project\APIs\language_job_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Helvetica" pitchFamily="2" charset="0"/>
              <a:ea typeface="+mn-ea"/>
              <a:cs typeface="+mn-cs"/>
            </a:defRPr>
          </a:pPr>
          <a:endParaRPr lang="en-NG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Jobs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Helvetica" pitchFamily="2" charset="0"/>
                    <a:ea typeface="+mn-ea"/>
                    <a:cs typeface="+mn-cs"/>
                  </a:defRPr>
                </a:pPr>
                <a:endParaRPr lang="en-NG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Austin</c:v>
                </c:pt>
                <c:pt idx="1">
                  <c:v>San Francisco</c:v>
                </c:pt>
                <c:pt idx="2">
                  <c:v>Los Angeles</c:v>
                </c:pt>
                <c:pt idx="3">
                  <c:v>New York</c:v>
                </c:pt>
                <c:pt idx="4">
                  <c:v>Seattle</c:v>
                </c:pt>
                <c:pt idx="5">
                  <c:v>Detroit</c:v>
                </c:pt>
                <c:pt idx="6">
                  <c:v>Washington DC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434</c:v>
                </c:pt>
                <c:pt idx="1">
                  <c:v>435</c:v>
                </c:pt>
                <c:pt idx="2">
                  <c:v>640</c:v>
                </c:pt>
                <c:pt idx="3">
                  <c:v>3226</c:v>
                </c:pt>
                <c:pt idx="4">
                  <c:v>3375</c:v>
                </c:pt>
                <c:pt idx="5">
                  <c:v>3945</c:v>
                </c:pt>
                <c:pt idx="6">
                  <c:v>5316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30-3A45-828F-66EB9901931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74491584"/>
        <c:axId val="1174505808"/>
      </c:barChart>
      <c:catAx>
        <c:axId val="11744915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pPr>
            <a:endParaRPr lang="en-NG"/>
          </a:p>
        </c:txPr>
        <c:crossAx val="1174505808"/>
        <c:crosses val="autoZero"/>
        <c:auto val="1"/>
        <c:lblAlgn val="ctr"/>
        <c:lblOffset val="100"/>
        <c:noMultiLvlLbl val="0"/>
      </c:catAx>
      <c:valAx>
        <c:axId val="11745058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Helvetica" pitchFamily="2" charset="0"/>
                    <a:ea typeface="+mn-ea"/>
                    <a:cs typeface="+mn-cs"/>
                  </a:defRPr>
                </a:pPr>
                <a:r>
                  <a:rPr lang="en-GB"/>
                  <a:t># of Jobs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Helvetica" pitchFamily="2" charset="0"/>
                  <a:ea typeface="+mn-ea"/>
                  <a:cs typeface="+mn-cs"/>
                </a:defRPr>
              </a:pPr>
              <a:endParaRPr lang="en-NG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pPr>
            <a:endParaRPr lang="en-NG"/>
          </a:p>
        </c:txPr>
        <c:crossAx val="1174491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Helvetica" pitchFamily="2" charset="0"/>
        </a:defRPr>
      </a:pPr>
      <a:endParaRPr lang="en-NG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pPr>
            <a:r>
              <a:rPr lang="en-US"/>
              <a:t>Number of Jobs by Programming</a:t>
            </a:r>
            <a:r>
              <a:rPr lang="en-US" baseline="0"/>
              <a:t> Language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Helvetica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Jobs</c:v>
                </c:pt>
              </c:strCache>
            </c:strRef>
          </c:tx>
          <c:spPr>
            <a:solidFill>
              <a:srgbClr val="7030A0"/>
            </a:solidFill>
            <a:ln>
              <a:solidFill>
                <a:srgbClr val="7030A0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Helvetica" pitchFamily="2" charset="0"/>
                    <a:ea typeface="+mn-ea"/>
                    <a:cs typeface="+mn-cs"/>
                  </a:defRPr>
                </a:pPr>
                <a:endParaRPr lang="en-NG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C</c:v>
                </c:pt>
                <c:pt idx="1">
                  <c:v>Java</c:v>
                </c:pt>
                <c:pt idx="2">
                  <c:v>Python</c:v>
                </c:pt>
                <c:pt idx="3">
                  <c:v>Oracle</c:v>
                </c:pt>
                <c:pt idx="4">
                  <c:v>JavaScript</c:v>
                </c:pt>
                <c:pt idx="5">
                  <c:v>C#</c:v>
                </c:pt>
                <c:pt idx="6">
                  <c:v>C++</c:v>
                </c:pt>
                <c:pt idx="7">
                  <c:v>SQL Server</c:v>
                </c:pt>
                <c:pt idx="8">
                  <c:v>MongoDB</c:v>
                </c:pt>
                <c:pt idx="9">
                  <c:v>Scala</c:v>
                </c:pt>
                <c:pt idx="10">
                  <c:v>PostgreSQL</c:v>
                </c:pt>
                <c:pt idx="11">
                  <c:v>MySQL Server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13498</c:v>
                </c:pt>
                <c:pt idx="1">
                  <c:v>2609</c:v>
                </c:pt>
                <c:pt idx="2">
                  <c:v>1173</c:v>
                </c:pt>
                <c:pt idx="3">
                  <c:v>784</c:v>
                </c:pt>
                <c:pt idx="4">
                  <c:v>355</c:v>
                </c:pt>
                <c:pt idx="5">
                  <c:v>333</c:v>
                </c:pt>
                <c:pt idx="6">
                  <c:v>305</c:v>
                </c:pt>
                <c:pt idx="7">
                  <c:v>250</c:v>
                </c:pt>
                <c:pt idx="8">
                  <c:v>174</c:v>
                </c:pt>
                <c:pt idx="9">
                  <c:v>33</c:v>
                </c:pt>
                <c:pt idx="10">
                  <c:v>10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D3-574B-B32F-41CA75D16E4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53583376"/>
        <c:axId val="1153585088"/>
      </c:barChart>
      <c:catAx>
        <c:axId val="11535833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pPr>
            <a:endParaRPr lang="en-NG"/>
          </a:p>
        </c:txPr>
        <c:crossAx val="1153585088"/>
        <c:crosses val="autoZero"/>
        <c:auto val="1"/>
        <c:lblAlgn val="ctr"/>
        <c:lblOffset val="100"/>
        <c:noMultiLvlLbl val="0"/>
      </c:catAx>
      <c:valAx>
        <c:axId val="11535850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Helvetica" pitchFamily="2" charset="0"/>
                    <a:ea typeface="+mn-ea"/>
                    <a:cs typeface="+mn-cs"/>
                  </a:defRPr>
                </a:pPr>
                <a:r>
                  <a:rPr lang="en-GB"/>
                  <a:t># of Jobs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Helvetica" pitchFamily="2" charset="0"/>
                  <a:ea typeface="+mn-ea"/>
                  <a:cs typeface="+mn-cs"/>
                </a:defRPr>
              </a:pPr>
              <a:endParaRPr lang="en-NG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pPr>
            <a:endParaRPr lang="en-NG"/>
          </a:p>
        </c:txPr>
        <c:crossAx val="1153583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Helvetica" pitchFamily="2" charset="0"/>
        </a:defRPr>
      </a:pPr>
      <a:endParaRPr lang="en-NG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2.13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1,'4'0,"1"0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2.48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5.17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5.51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5.86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6.20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6.53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8.34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28.78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3862 105,'-1271'0,"1156"-5,-24-7,-86-4,-555 14,398 3,346-3,0-2,1-1,-1-2,-10-4,-70-13,-19 12,0 6,-61 8,66 0,86 2,44-4,0 0,0 0,0 0,-1 0,1 0,0 0,0 0,0 1,0-1,-1 0,1 0,0 0,0 0,0 0,0 0,-1 0,1 0,0 0,0 1,0-1,0 0,0 0,0 0,0 0,-1 0,1 1,0-1,0 0,0 0,0 0,0 0,0 1,0-1,0 0,0 0,0 0,0 1,0-1,0 0,0 0,0 0,0 0,0 1,0-1,0 0,0 0,0 0,0 0,1 1,-1-1,0 0,20 10,43 10,61 11,-29-8,63 10,2-7,83 0,-79-10,0 7,60 20,-165-29,0-2,1-3,1-3,53-2,1709-7,-1834 2,-1-1,1 0,0 0,0-1,0-1,-36-8,-207-29,-83 4,242 22,66 9,0 1,-1 2,-2 1,-72 2,54 2,0-3,-42-6,52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0.591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0.92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1.555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1.881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3.15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4.04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4.71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0,'-6'0,"-1"0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6.60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7.36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0.49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6.95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7.44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0,'5'0,"3"0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8.50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37:51.25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53.8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0,'11'0,"10"0,1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951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12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004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86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4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Master" Target="../slideMasters/slideMaster1.xml"/><Relationship Id="rId6" Type="http://schemas.openxmlformats.org/officeDocument/2006/relationships/customXml" Target="../ink/ink3.xml"/><Relationship Id="rId11" Type="http://schemas.openxmlformats.org/officeDocument/2006/relationships/customXml" Target="../ink/ink8.xml"/><Relationship Id="rId5" Type="http://schemas.openxmlformats.org/officeDocument/2006/relationships/image" Target="../media/image5.png"/><Relationship Id="rId10" Type="http://schemas.openxmlformats.org/officeDocument/2006/relationships/customXml" Target="../ink/ink7.xml"/><Relationship Id="rId4" Type="http://schemas.openxmlformats.org/officeDocument/2006/relationships/customXml" Target="../ink/ink2.xml"/><Relationship Id="rId9" Type="http://schemas.openxmlformats.org/officeDocument/2006/relationships/customXml" Target="../ink/ink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0360" y="1168401"/>
            <a:ext cx="643128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80360" y="3731247"/>
            <a:ext cx="6431280" cy="1655762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00B0F0"/>
                </a:solidFill>
                <a:latin typeface="IBM Plex Mono Text" panose="020B05090502030002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 dirty="0">
                <a:latin typeface="Helv"/>
              </a:rPr>
              <a:t>© IBM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4850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F3045DE-3AB7-4E3E-A391-4F9107A8F8C9}"/>
                  </a:ext>
                </a:extLst>
              </p14:cNvPr>
              <p14:cNvContentPartPr/>
              <p14:nvPr userDrawn="1"/>
            </p14:nvContentPartPr>
            <p14:xfrm>
              <a:off x="1837276" y="6444633"/>
              <a:ext cx="39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F3045DE-3AB7-4E3E-A391-4F9107A8F8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47636" y="6264993"/>
                <a:ext cx="1836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64BE9BD-96C6-496B-8F87-BF8B5FE6878E}"/>
                  </a:ext>
                </a:extLst>
              </p14:cNvPr>
              <p14:cNvContentPartPr/>
              <p14:nvPr userDrawn="1"/>
            </p14:nvContentPartPr>
            <p14:xfrm>
              <a:off x="1846276" y="6435993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64BE9BD-96C6-496B-8F87-BF8B5FE687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55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547CB02-1206-4981-BA1F-98056CC7D0F6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547CB02-1206-4981-BA1F-98056CC7D0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0AC9549-295A-481F-BAC1-D217607B1470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0AC9549-295A-481F-BAC1-D217607B14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82B34FC-FED6-4B35-B336-2C001BF70FEA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82B34FC-FED6-4B35-B336-2C001BF70F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937588D-ADB8-4462-B727-CA3C34F68C66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937588D-ADB8-4462-B727-CA3C34F68C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0649580-583C-4B6A-9755-80D062662B47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0649580-583C-4B6A-9755-80D062662B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563E662-A115-4BA9-A520-DAB1F8FFDBA4}"/>
                  </a:ext>
                </a:extLst>
              </p14:cNvPr>
              <p14:cNvContentPartPr/>
              <p14:nvPr userDrawn="1"/>
            </p14:nvContentPartPr>
            <p14:xfrm>
              <a:off x="-222284" y="4536273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563E662-A115-4BA9-A520-DAB1F8FFDB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12284" y="4356633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735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C0E56E-6DF9-1A4A-B8B3-5CCE0E34EE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139" y="6371623"/>
            <a:ext cx="2456070" cy="378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F93DCE-FA02-D440-9E07-8488A5BEFD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75870" y="6371623"/>
            <a:ext cx="3375991" cy="39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CFCBCB-1D32-9741-B77A-1BFE02DB60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139" y="6371623"/>
            <a:ext cx="2456070" cy="3789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06E48A-1141-0A4A-92F9-E51452A1804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75870" y="6371623"/>
            <a:ext cx="3375991" cy="39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9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IBM Plex Mono SemiBold" panose="020B0709050203000203" pitchFamily="49" charset="0"/>
              </a:defRPr>
            </a:lvl1pPr>
            <a:lvl2pPr>
              <a:defRPr sz="2800">
                <a:latin typeface="IBM Plex Mono Text" panose="020B0509050203000203" pitchFamily="49" charset="0"/>
              </a:defRPr>
            </a:lvl2pPr>
            <a:lvl3pPr>
              <a:defRPr sz="2400">
                <a:latin typeface="IBM Plex Mono Text" panose="020B0509050203000203" pitchFamily="49" charset="0"/>
              </a:defRPr>
            </a:lvl3pPr>
            <a:lvl4pPr>
              <a:defRPr sz="2000">
                <a:latin typeface="IBM Plex Mono Text" panose="020B0509050203000203" pitchFamily="49" charset="0"/>
              </a:defRPr>
            </a:lvl4pPr>
            <a:lvl5pPr>
              <a:defRPr sz="2000">
                <a:latin typeface="IBM Plex Mono Text" panose="020B0509050203000203" pitchFamily="49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IBM Plex Mono Text" panose="020B0509050203000203" pitchFamily="49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606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IBM Plex Mono Text" panose="020B0509050203000203" pitchFamily="49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9268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IBM Plex Mono Text" panose="020B0509050203000203" pitchFamily="49" charset="0"/>
              </a:defRPr>
            </a:lvl1pPr>
            <a:lvl2pPr>
              <a:defRPr>
                <a:latin typeface="IBM Plex Mono Text" panose="020B0509050203000203" pitchFamily="49" charset="0"/>
              </a:defRPr>
            </a:lvl2pPr>
            <a:lvl3pPr>
              <a:defRPr>
                <a:latin typeface="IBM Plex Mono Text" panose="020B0509050203000203" pitchFamily="49" charset="0"/>
              </a:defRPr>
            </a:lvl3pPr>
            <a:lvl4pPr>
              <a:defRPr>
                <a:latin typeface="IBM Plex Mono Text" panose="020B0509050203000203" pitchFamily="49" charset="0"/>
              </a:defRPr>
            </a:lvl4pPr>
            <a:lvl5pPr>
              <a:defRPr>
                <a:latin typeface="IBM Plex Mono Text" panose="020B0509050203000203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4706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5687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C61547-18BE-8345-B662-68E923DBE5F1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340139" y="6371623"/>
            <a:ext cx="2456070" cy="3789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8A02AB-648A-1143-A78D-9F86334C2B6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475870" y="6371623"/>
            <a:ext cx="3375991" cy="3977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2884DB-FE2D-4B0A-B81D-5D9FAF9C5FA4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861346"/>
            <a:ext cx="10058400" cy="569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05493"/>
          </a:solidFill>
          <a:latin typeface="IBM Plex Mono SemiBold" panose="020B0709050203000203" pitchFamily="49" charset="0"/>
          <a:ea typeface="IBM Plex Mono SemiBold" panose="020B0709050203000203" pitchFamily="49" charset="0"/>
          <a:cs typeface="IBM Plex Mono SemiBold" panose="020B0709050203000203" pitchFamily="49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8" Type="http://schemas.openxmlformats.org/officeDocument/2006/relationships/image" Target="../media/image5.png"/><Relationship Id="rId26" Type="http://schemas.openxmlformats.org/officeDocument/2006/relationships/customXml" Target="../ink/ink21.xml"/><Relationship Id="rId3" Type="http://schemas.openxmlformats.org/officeDocument/2006/relationships/image" Target="../media/image6.png"/><Relationship Id="rId21" Type="http://schemas.openxmlformats.org/officeDocument/2006/relationships/image" Target="../media/image4.png"/><Relationship Id="rId7" Type="http://schemas.openxmlformats.org/officeDocument/2006/relationships/customXml" Target="../ink/ink10.xml"/><Relationship Id="rId12" Type="http://schemas.openxmlformats.org/officeDocument/2006/relationships/customXml" Target="../ink/ink14.xml"/><Relationship Id="rId25" Type="http://schemas.openxmlformats.org/officeDocument/2006/relationships/customXml" Target="../ink/ink20.xml"/><Relationship Id="rId2" Type="http://schemas.openxmlformats.org/officeDocument/2006/relationships/notesSlide" Target="../notesSlides/notesSlide1.xml"/><Relationship Id="rId20" Type="http://schemas.openxmlformats.org/officeDocument/2006/relationships/customXml" Target="../ink/ink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customXml" Target="../ink/ink13.xml"/><Relationship Id="rId24" Type="http://schemas.openxmlformats.org/officeDocument/2006/relationships/customXml" Target="../ink/ink19.xml"/><Relationship Id="rId23" Type="http://schemas.openxmlformats.org/officeDocument/2006/relationships/customXml" Target="../ink/ink18.xml"/><Relationship Id="rId28" Type="http://schemas.openxmlformats.org/officeDocument/2006/relationships/customXml" Target="../ink/ink23.xml"/><Relationship Id="rId36" Type="http://schemas.openxmlformats.org/officeDocument/2006/relationships/image" Target="../media/image7.png"/><Relationship Id="rId10" Type="http://schemas.openxmlformats.org/officeDocument/2006/relationships/customXml" Target="../ink/ink12.xml"/><Relationship Id="rId19" Type="http://schemas.openxmlformats.org/officeDocument/2006/relationships/customXml" Target="../ink/ink15.xml"/><Relationship Id="rId4" Type="http://schemas.openxmlformats.org/officeDocument/2006/relationships/customXml" Target="../ink/ink9.xml"/><Relationship Id="rId9" Type="http://schemas.openxmlformats.org/officeDocument/2006/relationships/customXml" Target="../ink/ink11.xml"/><Relationship Id="rId22" Type="http://schemas.openxmlformats.org/officeDocument/2006/relationships/customXml" Target="../ink/ink17.xml"/><Relationship Id="rId27" Type="http://schemas.openxmlformats.org/officeDocument/2006/relationships/customXml" Target="../ink/ink2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3" Type="http://schemas.openxmlformats.org/officeDocument/2006/relationships/customXml" Target="../ink/ink24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73FE-1F8B-4DED-8DC0-71E987678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009" y="2112716"/>
            <a:ext cx="52687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Helvetica" pitchFamily="2" charset="0"/>
              </a:rPr>
              <a:t>Findings from the Technology Industry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2BA16E-D1FA-4491-9564-DD4BCFEAC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569" y="1825625"/>
            <a:ext cx="4794861" cy="4351338"/>
          </a:xfrm>
          <a:prstGeom prst="rect">
            <a:avLst/>
          </a:prstGeo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3383873-F31C-4E31-B4BA-B40D50270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560007"/>
            <a:ext cx="5181600" cy="26169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Shubh Srivastava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4 march 2026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B9E41AB-16C2-481D-B8C5-779DDB04601D}"/>
                  </a:ext>
                </a:extLst>
              </p14:cNvPr>
              <p14:cNvContentPartPr/>
              <p14:nvPr/>
            </p14:nvContentPartPr>
            <p14:xfrm>
              <a:off x="1388880" y="6545472"/>
              <a:ext cx="1390320" cy="112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B9E41AB-16C2-481D-B8C5-779DDB04601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35240" y="6437472"/>
                <a:ext cx="149796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0DC8B94-332B-48F1-BD44-5D8DC140F977}"/>
                  </a:ext>
                </a:extLst>
              </p14:cNvPr>
              <p14:cNvContentPartPr/>
              <p14:nvPr/>
            </p14:nvContentPartPr>
            <p14:xfrm>
              <a:off x="2218680" y="6595872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0DC8B94-332B-48F1-BD44-5D8DC140F97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64680" y="64878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975E1FA-D9DC-4E9B-96CB-AF4B208FDD0D}"/>
                  </a:ext>
                </a:extLst>
              </p14:cNvPr>
              <p14:cNvContentPartPr/>
              <p14:nvPr/>
            </p14:nvContentPartPr>
            <p14:xfrm>
              <a:off x="2169720" y="6582912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975E1FA-D9DC-4E9B-96CB-AF4B208FDD0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5720" y="64752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54E5C77-5960-45F2-A8F4-437BBCEB11F6}"/>
                  </a:ext>
                </a:extLst>
              </p14:cNvPr>
              <p14:cNvContentPartPr/>
              <p14:nvPr/>
            </p14:nvContentPartPr>
            <p14:xfrm>
              <a:off x="2169720" y="6582912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54E5C77-5960-45F2-A8F4-437BBCEB11F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5720" y="64752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599CA86-0AA4-43B0-9BD8-C408990EDF1F}"/>
                  </a:ext>
                </a:extLst>
              </p14:cNvPr>
              <p14:cNvContentPartPr/>
              <p14:nvPr/>
            </p14:nvContentPartPr>
            <p14:xfrm>
              <a:off x="2169720" y="6582912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599CA86-0AA4-43B0-9BD8-C408990EDF1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5720" y="64752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E36B71F-8617-4B05-A565-CA68910B66AF}"/>
                  </a:ext>
                </a:extLst>
              </p14:cNvPr>
              <p14:cNvContentPartPr/>
              <p14:nvPr/>
            </p14:nvContentPartPr>
            <p14:xfrm>
              <a:off x="2998440" y="1035936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E36B71F-8617-4B05-A565-CA68910B66A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08800" y="85593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3E9255F-D54C-4938-861C-0719B95285A6}"/>
                  </a:ext>
                </a:extLst>
              </p14:cNvPr>
              <p14:cNvContentPartPr/>
              <p14:nvPr/>
            </p14:nvContentPartPr>
            <p14:xfrm>
              <a:off x="2998440" y="1035936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3E9255F-D54C-4938-861C-0719B95285A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08800" y="85593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3A7B024-B577-4CAE-BEB0-A6669B501358}"/>
                  </a:ext>
                </a:extLst>
              </p14:cNvPr>
              <p14:cNvContentPartPr/>
              <p14:nvPr/>
            </p14:nvContentPartPr>
            <p14:xfrm>
              <a:off x="2993760" y="1035936"/>
              <a:ext cx="504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3A7B024-B577-4CAE-BEB0-A6669B50135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904120" y="855936"/>
                <a:ext cx="184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0A5D064-5764-4BC6-889A-E61EBBCB274B}"/>
                  </a:ext>
                </a:extLst>
              </p14:cNvPr>
              <p14:cNvContentPartPr/>
              <p14:nvPr/>
            </p14:nvContentPartPr>
            <p14:xfrm>
              <a:off x="3729960" y="950616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0A5D064-5764-4BC6-889A-E61EBBCB274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40320" y="7706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CB02C25-2F1E-43D4-A77C-3F295035E347}"/>
                  </a:ext>
                </a:extLst>
              </p14:cNvPr>
              <p14:cNvContentPartPr/>
              <p14:nvPr/>
            </p14:nvContentPartPr>
            <p14:xfrm>
              <a:off x="3620520" y="1047816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CB02C25-2F1E-43D4-A77C-3F295035E34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30880" y="86817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C113320-A213-4066-90BD-CDA6F321CA37}"/>
                  </a:ext>
                </a:extLst>
              </p14:cNvPr>
              <p14:cNvContentPartPr/>
              <p14:nvPr/>
            </p14:nvContentPartPr>
            <p14:xfrm>
              <a:off x="6644160" y="4559256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C113320-A213-4066-90BD-CDA6F321CA3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554160" y="437925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62E2CCD-E783-4EB0-A449-D3A45EEDACA1}"/>
                  </a:ext>
                </a:extLst>
              </p14:cNvPr>
              <p14:cNvContentPartPr/>
              <p14:nvPr/>
            </p14:nvContentPartPr>
            <p14:xfrm>
              <a:off x="2047680" y="1023696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62E2CCD-E783-4EB0-A449-D3A45EEDACA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957680" y="84369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A6B9D4B-B599-4E13-8CD4-9AE1EA05DD38}"/>
                  </a:ext>
                </a:extLst>
              </p14:cNvPr>
              <p14:cNvContentPartPr/>
              <p14:nvPr/>
            </p14:nvContentPartPr>
            <p14:xfrm>
              <a:off x="2084400" y="1023696"/>
              <a:ext cx="504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A6B9D4B-B599-4E13-8CD4-9AE1EA05DD3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94760" y="843696"/>
                <a:ext cx="184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15EBC98-2995-4202-8847-0A06CF184801}"/>
                  </a:ext>
                </a:extLst>
              </p14:cNvPr>
              <p14:cNvContentPartPr/>
              <p14:nvPr/>
            </p14:nvContentPartPr>
            <p14:xfrm>
              <a:off x="1987200" y="1011456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15EBC98-2995-4202-8847-0A06CF18480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897200" y="8318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9248AF4-5127-48C9-B6A2-758110871291}"/>
                  </a:ext>
                </a:extLst>
              </p14:cNvPr>
              <p14:cNvContentPartPr/>
              <p14:nvPr/>
            </p14:nvContentPartPr>
            <p14:xfrm>
              <a:off x="-2207160" y="1998936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9248AF4-5127-48C9-B6A2-75811087129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-2216160" y="198993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7914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37F9FA-3571-49C2-8811-B1159FCC0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4" y="263810"/>
            <a:ext cx="8508528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Helvetica" pitchFamily="2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Helvetica" pitchFamily="2" charset="0"/>
              </a:rPr>
              <a:t>Executive Summary</a:t>
            </a:r>
          </a:p>
          <a:p>
            <a:r>
              <a:rPr lang="en-US" sz="2200" dirty="0">
                <a:solidFill>
                  <a:schemeClr val="tx1"/>
                </a:solidFill>
                <a:latin typeface="Helvetica" pitchFamily="2" charset="0"/>
              </a:rPr>
              <a:t>Introduction</a:t>
            </a:r>
          </a:p>
          <a:p>
            <a:r>
              <a:rPr lang="en-US" sz="2200" dirty="0">
                <a:solidFill>
                  <a:schemeClr val="tx1"/>
                </a:solidFill>
                <a:latin typeface="Helvetica" pitchFamily="2" charset="0"/>
              </a:rPr>
              <a:t>Methodology</a:t>
            </a:r>
          </a:p>
          <a:p>
            <a:r>
              <a:rPr lang="en-US" sz="2200" dirty="0">
                <a:solidFill>
                  <a:schemeClr val="tx1"/>
                </a:solidFill>
                <a:latin typeface="Helvetica" pitchFamily="2" charset="0"/>
              </a:rPr>
              <a:t>Results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Helvetica" pitchFamily="2" charset="0"/>
              </a:rPr>
              <a:t>Visualization – Charts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Helvetica" pitchFamily="2" charset="0"/>
              </a:rPr>
              <a:t>Dashboard</a:t>
            </a:r>
          </a:p>
          <a:p>
            <a:r>
              <a:rPr lang="en-US" sz="2200" dirty="0">
                <a:solidFill>
                  <a:schemeClr val="tx1"/>
                </a:solidFill>
                <a:latin typeface="Helvetica" pitchFamily="2" charset="0"/>
              </a:rPr>
              <a:t>Discussion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Helvetica" pitchFamily="2" charset="0"/>
              </a:rPr>
              <a:t>Findings &amp; Implications</a:t>
            </a:r>
          </a:p>
          <a:p>
            <a:r>
              <a:rPr lang="en-US" sz="2200" dirty="0">
                <a:solidFill>
                  <a:schemeClr val="tx1"/>
                </a:solidFill>
                <a:latin typeface="Helvetica" pitchFamily="2" charset="0"/>
              </a:rPr>
              <a:t>Conclusion</a:t>
            </a:r>
          </a:p>
          <a:p>
            <a:r>
              <a:rPr lang="en-US" sz="2200" dirty="0">
                <a:solidFill>
                  <a:schemeClr val="tx1"/>
                </a:solidFill>
                <a:latin typeface="Helvetica" pitchFamily="2" charset="0"/>
              </a:rPr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8EA1C91-5384-4260-8EC9-8379C643441C}"/>
                  </a:ext>
                </a:extLst>
              </p14:cNvPr>
              <p14:cNvContentPartPr/>
              <p14:nvPr/>
            </p14:nvContentPartPr>
            <p14:xfrm>
              <a:off x="-2109240" y="2669712"/>
              <a:ext cx="1980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8EA1C91-5384-4260-8EC9-8379C643441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2199240" y="2489712"/>
                <a:ext cx="199440" cy="3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9210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Helvetica" pitchFamily="2" charset="0"/>
              </a:rPr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5075" y="1460500"/>
            <a:ext cx="7068725" cy="4830571"/>
          </a:xfrm>
        </p:spPr>
        <p:txBody>
          <a:bodyPr>
            <a:normAutofit/>
          </a:bodyPr>
          <a:lstStyle/>
          <a:p>
            <a:r>
              <a:rPr lang="en-GB" sz="2000" b="1" dirty="0">
                <a:solidFill>
                  <a:schemeClr val="tx1"/>
                </a:solidFill>
                <a:latin typeface="Helvetica" pitchFamily="2" charset="0"/>
              </a:rPr>
              <a:t>Dominance of Web and Cloud Technologies</a:t>
            </a:r>
            <a:r>
              <a:rPr lang="en-GB" sz="2000" dirty="0">
                <a:solidFill>
                  <a:schemeClr val="tx1"/>
                </a:solidFill>
                <a:latin typeface="Helvetica" pitchFamily="2" charset="0"/>
              </a:rPr>
              <a:t> – This reflects the current core of modern software development, which is essential for understanding the present tech landscape.</a:t>
            </a:r>
          </a:p>
          <a:p>
            <a:endParaRPr lang="en-GB" sz="2000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GB" sz="2000" b="1" dirty="0">
                <a:solidFill>
                  <a:schemeClr val="tx1"/>
                </a:solidFill>
                <a:latin typeface="Helvetica" pitchFamily="2" charset="0"/>
              </a:rPr>
              <a:t>Growing Popularity of Emerging Languages</a:t>
            </a:r>
            <a:r>
              <a:rPr lang="en-GB" sz="2000" dirty="0">
                <a:solidFill>
                  <a:schemeClr val="tx1"/>
                </a:solidFill>
                <a:latin typeface="Helvetica" pitchFamily="2" charset="0"/>
              </a:rPr>
              <a:t> – It’s important to address the shift toward Kotlin, Go, and TypeScript, as these represent future trends and demand in the industry.</a:t>
            </a:r>
          </a:p>
          <a:p>
            <a:endParaRPr lang="en-GB" sz="2000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GB" sz="2000" b="1" dirty="0">
                <a:solidFill>
                  <a:schemeClr val="tx1"/>
                </a:solidFill>
                <a:latin typeface="Helvetica" pitchFamily="2" charset="0"/>
              </a:rPr>
              <a:t>Demographic Imbalance</a:t>
            </a:r>
            <a:r>
              <a:rPr lang="en-GB" sz="2000" dirty="0">
                <a:solidFill>
                  <a:schemeClr val="tx1"/>
                </a:solidFill>
                <a:latin typeface="Helvetica" pitchFamily="2" charset="0"/>
              </a:rPr>
              <a:t> – Highlighting the significant gender gap and younger workforce can drive discussions on diversity and inclusion, which is a growing concern for many organizations.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78B9B-93A7-4517-9E78-2F5C028F2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94" y="2302762"/>
            <a:ext cx="3194581" cy="31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23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Helvetica" pitchFamily="2" charset="0"/>
              </a:rPr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158731-59BB-48A2-A901-D7C35E91B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710A13-9821-054D-8648-FB592F1CDDDF}"/>
              </a:ext>
            </a:extLst>
          </p:cNvPr>
          <p:cNvSpPr txBox="1">
            <a:spLocks/>
          </p:cNvSpPr>
          <p:nvPr/>
        </p:nvSpPr>
        <p:spPr>
          <a:xfrm>
            <a:off x="4285075" y="1422400"/>
            <a:ext cx="7068725" cy="47545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solidFill>
                  <a:schemeClr val="tx1"/>
                </a:solidFill>
                <a:latin typeface="Helvetica" pitchFamily="2" charset="0"/>
              </a:rPr>
              <a:t>Technology is an ever-changing space and developers who have updated skillsets stay ahead of the curve </a:t>
            </a:r>
          </a:p>
          <a:p>
            <a:endParaRPr lang="en-US" sz="2200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Helvetica" pitchFamily="2" charset="0"/>
              </a:rPr>
              <a:t>This report explores: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Helvetica" pitchFamily="2" charset="0"/>
              </a:rPr>
              <a:t>Current Demands in Technology highlighting the dominant technologies in use today </a:t>
            </a:r>
          </a:p>
          <a:p>
            <a:pPr lvl="1"/>
            <a:endParaRPr lang="en-US" sz="1800" dirty="0">
              <a:solidFill>
                <a:schemeClr val="tx1"/>
              </a:solidFill>
              <a:latin typeface="Helvetica" pitchFamily="2" charset="0"/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  <a:latin typeface="Helvetica" pitchFamily="2" charset="0"/>
              </a:rPr>
              <a:t>Future Technology Trends highlighting emerging technologies by tracking survey responses from the tech space</a:t>
            </a:r>
          </a:p>
          <a:p>
            <a:pPr lvl="1"/>
            <a:endParaRPr lang="en-US" sz="1800" dirty="0">
              <a:solidFill>
                <a:schemeClr val="tx1"/>
              </a:solidFill>
              <a:latin typeface="Helvetica" pitchFamily="2" charset="0"/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  <a:latin typeface="Helvetica" pitchFamily="2" charset="0"/>
              </a:rPr>
              <a:t>Demographic trends in Technology </a:t>
            </a:r>
          </a:p>
          <a:p>
            <a:pPr lvl="1"/>
            <a:endParaRPr lang="en-US" sz="1800" dirty="0">
              <a:solidFill>
                <a:schemeClr val="tx1"/>
              </a:solidFill>
              <a:latin typeface="Helvetica" pitchFamily="2" charset="0"/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  <a:latin typeface="Helvetica" pitchFamily="2" charset="0"/>
              </a:rPr>
              <a:t>Demand for employees by cities </a:t>
            </a:r>
          </a:p>
        </p:txBody>
      </p:sp>
    </p:spTree>
    <p:extLst>
      <p:ext uri="{BB962C8B-B14F-4D97-AF65-F5344CB8AC3E}">
        <p14:creationId xmlns:p14="http://schemas.microsoft.com/office/powerpoint/2010/main" val="710623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76642"/>
            <a:ext cx="7230723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Helvetica" pitchFamily="2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5075" y="1825625"/>
            <a:ext cx="7068725" cy="4351338"/>
          </a:xfrm>
        </p:spPr>
        <p:txBody>
          <a:bodyPr>
            <a:normAutofit lnSpcReduction="10000"/>
          </a:bodyPr>
          <a:lstStyle/>
          <a:p>
            <a:r>
              <a:rPr lang="en-US" sz="2200" dirty="0">
                <a:solidFill>
                  <a:schemeClr val="tx1"/>
                </a:solidFill>
                <a:latin typeface="Helvetica" pitchFamily="2" charset="0"/>
              </a:rPr>
              <a:t>Data was obtained from different platforms such as Kaggle and </a:t>
            </a:r>
            <a:r>
              <a:rPr lang="en-US" sz="2200" dirty="0" err="1">
                <a:solidFill>
                  <a:schemeClr val="tx1"/>
                </a:solidFill>
                <a:latin typeface="Helvetica" pitchFamily="2" charset="0"/>
              </a:rPr>
              <a:t>StackOverflow</a:t>
            </a:r>
            <a:endParaRPr lang="en-US" sz="2200" dirty="0">
              <a:solidFill>
                <a:schemeClr val="tx1"/>
              </a:solidFill>
              <a:latin typeface="Helvetica" pitchFamily="2" charset="0"/>
            </a:endParaRPr>
          </a:p>
          <a:p>
            <a:endParaRPr lang="en-US" sz="2200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Helvetica" pitchFamily="2" charset="0"/>
              </a:rPr>
              <a:t>The data was gathered using </a:t>
            </a:r>
            <a:r>
              <a:rPr lang="en-US" sz="2200" dirty="0" err="1">
                <a:solidFill>
                  <a:schemeClr val="tx1"/>
                </a:solidFill>
                <a:latin typeface="Helvetica" pitchFamily="2" charset="0"/>
              </a:rPr>
              <a:t>WebScraping</a:t>
            </a:r>
            <a:r>
              <a:rPr lang="en-US" sz="2200" dirty="0">
                <a:solidFill>
                  <a:schemeClr val="tx1"/>
                </a:solidFill>
                <a:latin typeface="Helvetica" pitchFamily="2" charset="0"/>
              </a:rPr>
              <a:t> and API requests</a:t>
            </a:r>
          </a:p>
          <a:p>
            <a:endParaRPr lang="en-US" sz="2200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Helvetica" pitchFamily="2" charset="0"/>
              </a:rPr>
              <a:t>The data was wrangled by Python and saved in both CSV and XLXS formats </a:t>
            </a:r>
          </a:p>
          <a:p>
            <a:endParaRPr lang="en-US" sz="2200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US" sz="2200" dirty="0" err="1">
                <a:solidFill>
                  <a:schemeClr val="tx1"/>
                </a:solidFill>
                <a:latin typeface="Helvetica" pitchFamily="2" charset="0"/>
              </a:rPr>
              <a:t>Visualisation</a:t>
            </a:r>
            <a:r>
              <a:rPr lang="en-US" sz="2200" dirty="0">
                <a:solidFill>
                  <a:schemeClr val="tx1"/>
                </a:solidFill>
                <a:latin typeface="Helvetica" pitchFamily="2" charset="0"/>
              </a:rPr>
              <a:t> and dashboarding was done using Excel, Python, IBM Watson Studio and Google Looker</a:t>
            </a:r>
            <a:endParaRPr lang="en-US" sz="1800" dirty="0">
              <a:solidFill>
                <a:schemeClr val="tx1"/>
              </a:solidFill>
              <a:latin typeface="Helvetica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AE176B-DE78-4B75-AC9E-2A422E82D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859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700" y="1825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Helvetica" pitchFamily="2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4700" y="1343818"/>
            <a:ext cx="706872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>
              <a:latin typeface="Helvetica" pitchFamily="2" charset="0"/>
            </a:endParaRPr>
          </a:p>
          <a:p>
            <a:pPr marL="0" indent="0">
              <a:buNone/>
            </a:pPr>
            <a:endParaRPr lang="en-US" sz="1800" dirty="0">
              <a:latin typeface="Helvetica" pitchFamily="2" charset="0"/>
            </a:endParaRPr>
          </a:p>
          <a:p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Programing Language Trends </a:t>
            </a:r>
          </a:p>
          <a:p>
            <a:endParaRPr lang="en-US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Database Trends </a:t>
            </a:r>
          </a:p>
        </p:txBody>
      </p:sp>
    </p:spTree>
    <p:extLst>
      <p:ext uri="{BB962C8B-B14F-4D97-AF65-F5344CB8AC3E}">
        <p14:creationId xmlns:p14="http://schemas.microsoft.com/office/powerpoint/2010/main" val="1464666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Helvetica" pitchFamily="2" charset="0"/>
              </a:rPr>
              <a:t>PROGRAMMING LANGUAGE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39718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78500" y="1439718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Next Year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05BC2B-5B91-61E8-E2E1-9CAB08396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41657"/>
            <a:ext cx="5257800" cy="42820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7138D6-66F5-BA5D-30CD-76C8A077D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200" y="1941657"/>
            <a:ext cx="5259600" cy="428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259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Helvetica" pitchFamily="2" charset="0"/>
              </a:rPr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473200"/>
            <a:ext cx="5181600" cy="47037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Helvetica" pitchFamily="2" charset="0"/>
              </a:rPr>
              <a:t>Findings</a:t>
            </a:r>
          </a:p>
          <a:p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Persisting interest in JavaScript</a:t>
            </a:r>
          </a:p>
          <a:p>
            <a:endParaRPr lang="en-US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Declining interest in C++ </a:t>
            </a:r>
          </a:p>
          <a:p>
            <a:endParaRPr lang="en-US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Rising interest in Python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73200"/>
            <a:ext cx="5321300" cy="47037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Helvetica" pitchFamily="2" charset="0"/>
              </a:rPr>
              <a:t>Implications</a:t>
            </a:r>
          </a:p>
          <a:p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JavaScript is currently to most utilized language. Hence, programmers should use it more</a:t>
            </a:r>
          </a:p>
          <a:p>
            <a:endParaRPr lang="en-US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Despite C++ current popularity, interest in using it signals programmers should focus on other languages</a:t>
            </a:r>
          </a:p>
          <a:p>
            <a:endParaRPr lang="en-US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A rising demand from the employment market of Python developers.</a:t>
            </a:r>
          </a:p>
        </p:txBody>
      </p:sp>
    </p:spTree>
    <p:extLst>
      <p:ext uri="{BB962C8B-B14F-4D97-AF65-F5344CB8AC3E}">
        <p14:creationId xmlns:p14="http://schemas.microsoft.com/office/powerpoint/2010/main" val="545569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9"/>
            <a:ext cx="10515600" cy="941662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Helvetica" pitchFamily="2" charset="0"/>
              </a:rPr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446341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70430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Next Year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D6554F-D71A-39B6-149A-BA14E9574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72369"/>
            <a:ext cx="5892800" cy="43991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4774FE-E392-A9AA-7374-0ADD8ED71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84" y="1862844"/>
            <a:ext cx="5233416" cy="420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638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1238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Helvetica" pitchFamily="2" charset="0"/>
              </a:rPr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449388"/>
            <a:ext cx="5181600" cy="47275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Helvetica" pitchFamily="2" charset="0"/>
              </a:rPr>
              <a:t>Findings</a:t>
            </a:r>
            <a:endParaRPr lang="en-US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Rising interest in </a:t>
            </a:r>
            <a:r>
              <a:rPr lang="en-US" dirty="0" err="1">
                <a:solidFill>
                  <a:schemeClr val="tx1"/>
                </a:solidFill>
                <a:latin typeface="Helvetica" pitchFamily="2" charset="0"/>
              </a:rPr>
              <a:t>PostgresSQL</a:t>
            </a:r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.</a:t>
            </a:r>
          </a:p>
          <a:p>
            <a:endParaRPr lang="en-US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Declining interest in </a:t>
            </a:r>
            <a:r>
              <a:rPr lang="en-US" dirty="0" err="1">
                <a:solidFill>
                  <a:schemeClr val="tx1"/>
                </a:solidFill>
                <a:latin typeface="Helvetica" pitchFamily="2" charset="0"/>
              </a:rPr>
              <a:t>MicrosoftSQL</a:t>
            </a:r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 Server.</a:t>
            </a:r>
          </a:p>
          <a:p>
            <a:endParaRPr lang="en-US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Interest in databases such as DynamoDB.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49388"/>
            <a:ext cx="5181600" cy="47275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Helvetica" pitchFamily="2" charset="0"/>
              </a:rPr>
              <a:t>Implications</a:t>
            </a:r>
            <a:endParaRPr lang="en-US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Developers should learn this as it is the most desired database to be used by respondents.</a:t>
            </a:r>
          </a:p>
          <a:p>
            <a:endParaRPr lang="en-US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Helvetica" pitchFamily="2" charset="0"/>
              </a:rPr>
              <a:t>MicrosoftSQL</a:t>
            </a:r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 Server is becoming less popular among employers. </a:t>
            </a:r>
          </a:p>
          <a:p>
            <a:endParaRPr lang="en-US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Using less popular databases could provide a niche edge for developers. </a:t>
            </a:r>
          </a:p>
        </p:txBody>
      </p:sp>
    </p:spTree>
    <p:extLst>
      <p:ext uri="{BB962C8B-B14F-4D97-AF65-F5344CB8AC3E}">
        <p14:creationId xmlns:p14="http://schemas.microsoft.com/office/powerpoint/2010/main" val="2659604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37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Helvetica" pitchFamily="2" charset="0"/>
              </a:rPr>
              <a:t>DASHBOARDS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5075" y="1473200"/>
            <a:ext cx="7068725" cy="4352549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Current Trends in Technology</a:t>
            </a:r>
          </a:p>
          <a:p>
            <a:endParaRPr lang="en-US" sz="2200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Future Trends in Technology </a:t>
            </a:r>
          </a:p>
          <a:p>
            <a:endParaRPr lang="en-US" sz="2200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Demographics in Tech</a:t>
            </a:r>
          </a:p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F6C466-B847-478E-ADAD-F2B14AA50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1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Helvetica" pitchFamily="2" charset="0"/>
              </a:rPr>
              <a:t>CURRENT TECHNOLOGY DASHBOARD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FCC0E64-0E5B-4BA1-BC72-30FA1DE96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051FFF-CFAA-D0D7-A53A-D071CD5F4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99223"/>
            <a:ext cx="10515600" cy="464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853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Helvetica" pitchFamily="2" charset="0"/>
              </a:rPr>
              <a:t>FUTURE TECHNOLOGY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2A3A09-3FA1-560F-C28C-8DC22BF1D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49199"/>
            <a:ext cx="10515600" cy="482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27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Helvetica" pitchFamily="2" charset="0"/>
              </a:rPr>
              <a:t>DEMOGRAPHICS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221DAE-AD89-3D31-2A0E-8027F34BE6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70"/>
          <a:stretch/>
        </p:blipFill>
        <p:spPr>
          <a:xfrm>
            <a:off x="838200" y="1361105"/>
            <a:ext cx="10515600" cy="486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973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Helvetica" pitchFamily="2" charset="0"/>
              </a:rPr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22E5FA6B-CA5C-4FB5-AAB3-8260D2EF86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53331" y="1825625"/>
            <a:ext cx="4351338" cy="4351338"/>
          </a:xfrm>
          <a:prstGeom prst="rect">
            <a:avLst/>
          </a:prstGeom>
          <a:noFill/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What are the current trends in tech?</a:t>
            </a:r>
          </a:p>
          <a:p>
            <a:endParaRPr lang="en-US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Future Trends in Tech?</a:t>
            </a:r>
          </a:p>
          <a:p>
            <a:endParaRPr lang="en-US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What are the demographics like?</a:t>
            </a:r>
          </a:p>
          <a:p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130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616" y="18255"/>
            <a:ext cx="10515600" cy="1325563"/>
          </a:xfrm>
        </p:spPr>
        <p:txBody>
          <a:bodyPr/>
          <a:lstStyle/>
          <a:p>
            <a:r>
              <a:rPr lang="en-US" b="1" dirty="0">
                <a:latin typeface="Helvetica" pitchFamily="2" charset="0"/>
              </a:rPr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7616" y="1343818"/>
            <a:ext cx="5181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Helvetica" pitchFamily="2" charset="0"/>
              </a:rPr>
              <a:t>Findings</a:t>
            </a:r>
            <a:endParaRPr lang="en-US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GB" dirty="0">
                <a:solidFill>
                  <a:schemeClr val="tx1"/>
                </a:solidFill>
                <a:latin typeface="Helvetica" pitchFamily="2" charset="0"/>
              </a:rPr>
              <a:t>JavaScript, HTML/CSS and SQL dominate the programming languages landscape. </a:t>
            </a:r>
          </a:p>
          <a:p>
            <a:endParaRPr lang="en-GB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GB" dirty="0">
                <a:solidFill>
                  <a:schemeClr val="tx1"/>
                </a:solidFill>
                <a:latin typeface="Helvetica" pitchFamily="2" charset="0"/>
              </a:rPr>
              <a:t>Rising interest in Kotlin, Go, and TypeScript for future projects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Gender disparity in the tech space despite young workforce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343818"/>
            <a:ext cx="5358384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Helvetica" pitchFamily="2" charset="0"/>
              </a:rPr>
              <a:t>Implications</a:t>
            </a:r>
            <a:endParaRPr lang="en-US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GB" dirty="0">
                <a:solidFill>
                  <a:schemeClr val="tx1"/>
                </a:solidFill>
                <a:latin typeface="Helvetica" pitchFamily="2" charset="0"/>
              </a:rPr>
              <a:t>Web development is currently popular as these are core tools for it.</a:t>
            </a:r>
          </a:p>
          <a:p>
            <a:endParaRPr lang="en-GB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Demanded skills switching to mobile development as Kotlin and Go are for mobile development</a:t>
            </a:r>
          </a:p>
          <a:p>
            <a:endParaRPr lang="en-US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US" dirty="0">
                <a:solidFill>
                  <a:schemeClr val="tx1"/>
                </a:solidFill>
                <a:latin typeface="Helvetica" pitchFamily="2" charset="0"/>
              </a:rPr>
              <a:t>Limitation of innovation through different perspectives </a:t>
            </a:r>
          </a:p>
        </p:txBody>
      </p:sp>
    </p:spTree>
    <p:extLst>
      <p:ext uri="{BB962C8B-B14F-4D97-AF65-F5344CB8AC3E}">
        <p14:creationId xmlns:p14="http://schemas.microsoft.com/office/powerpoint/2010/main" val="647271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Helvetica" pitchFamily="2" charset="0"/>
              </a:rPr>
              <a:t>CONCLUSION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92561" y="1447800"/>
            <a:ext cx="7461239" cy="472916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1600" b="1" dirty="0">
                <a:solidFill>
                  <a:schemeClr val="tx1"/>
                </a:solidFill>
                <a:latin typeface="Helvetica" pitchFamily="2" charset="0"/>
              </a:rPr>
              <a:t>Web Development and Cloud Domination:</a:t>
            </a:r>
            <a:r>
              <a:rPr lang="en-GB" sz="1600" dirty="0">
                <a:solidFill>
                  <a:schemeClr val="tx1"/>
                </a:solidFill>
                <a:latin typeface="Helvetica" pitchFamily="2" charset="0"/>
              </a:rPr>
              <a:t> JavaScript, HTML/CSS, and SQL are extensively used, indicating web development's stronghold, while platforms like AWS, Linux, and Docker suggest the growing prominence of cloud computing and containerization in modern tech stacks.</a:t>
            </a:r>
          </a:p>
          <a:p>
            <a:pPr>
              <a:lnSpc>
                <a:spcPct val="120000"/>
              </a:lnSpc>
            </a:pPr>
            <a:endParaRPr lang="en-GB" sz="1600" dirty="0">
              <a:solidFill>
                <a:schemeClr val="tx1"/>
              </a:solidFill>
              <a:latin typeface="Helvetica" pitchFamily="2" charset="0"/>
            </a:endParaRPr>
          </a:p>
          <a:p>
            <a:pPr>
              <a:lnSpc>
                <a:spcPct val="120000"/>
              </a:lnSpc>
            </a:pPr>
            <a:r>
              <a:rPr lang="en-GB" sz="1600" b="1" dirty="0">
                <a:solidFill>
                  <a:schemeClr val="tx1"/>
                </a:solidFill>
                <a:latin typeface="Helvetica" pitchFamily="2" charset="0"/>
              </a:rPr>
              <a:t>Emerging Tech Skills and Database Preferences:</a:t>
            </a:r>
            <a:r>
              <a:rPr lang="en-GB" sz="1600" dirty="0">
                <a:solidFill>
                  <a:schemeClr val="tx1"/>
                </a:solidFill>
                <a:latin typeface="Helvetica" pitchFamily="2" charset="0"/>
              </a:rPr>
              <a:t> Kotlin, Go, and TypeScript are gaining traction, signalling the need for up-skilling in mobile and systems development. Open-source databases like MySQL and PostgreSQL are top choices, highlighting their scalability and flexibility.</a:t>
            </a:r>
          </a:p>
          <a:p>
            <a:pPr>
              <a:lnSpc>
                <a:spcPct val="120000"/>
              </a:lnSpc>
            </a:pPr>
            <a:endParaRPr lang="en-GB" sz="1600" dirty="0">
              <a:solidFill>
                <a:schemeClr val="tx1"/>
              </a:solidFill>
              <a:latin typeface="Helvetica" pitchFamily="2" charset="0"/>
            </a:endParaRPr>
          </a:p>
          <a:p>
            <a:pPr>
              <a:lnSpc>
                <a:spcPct val="120000"/>
              </a:lnSpc>
            </a:pPr>
            <a:r>
              <a:rPr lang="en-GB" sz="1600" b="1" dirty="0">
                <a:solidFill>
                  <a:schemeClr val="tx1"/>
                </a:solidFill>
                <a:latin typeface="Helvetica" pitchFamily="2" charset="0"/>
              </a:rPr>
              <a:t>Demographic Imbalance and Opportunities:</a:t>
            </a:r>
            <a:r>
              <a:rPr lang="en-GB" sz="1600" dirty="0">
                <a:solidFill>
                  <a:schemeClr val="tx1"/>
                </a:solidFill>
                <a:latin typeface="Helvetica" pitchFamily="2" charset="0"/>
              </a:rPr>
              <a:t> The significant gender gap (93.5% men) and younger workforce (25-30 age peak) in tech underline the need for more diversity and inclusion efforts, offering potential for innovation through varied perspectives.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013141-2139-434F-83AB-CF1C80A7AC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101196"/>
            <a:ext cx="3054361" cy="30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Helvetica" pitchFamily="2" charset="0"/>
              </a:rPr>
              <a:t>APPENDIX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D63823-FC2E-4AC2-93D5-3C2B6F3154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FDF44C-D6F9-386D-4AE2-307152D9B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100" y="1422400"/>
            <a:ext cx="66167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Helvetica" pitchFamily="2" charset="0"/>
              </a:rPr>
              <a:t> JOB POSTINGS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3298" y="1416685"/>
            <a:ext cx="4774276" cy="2862753"/>
          </a:xfrm>
        </p:spPr>
        <p:txBody>
          <a:bodyPr>
            <a:normAutofit/>
          </a:bodyPr>
          <a:lstStyle/>
          <a:p>
            <a:r>
              <a:rPr lang="en-GB" sz="2200" dirty="0">
                <a:solidFill>
                  <a:schemeClr val="tx1"/>
                </a:solidFill>
                <a:latin typeface="Helvetica" pitchFamily="2" charset="0"/>
              </a:rPr>
              <a:t>High supply of jobs in Washington DC, Detroit and Seattle </a:t>
            </a:r>
          </a:p>
          <a:p>
            <a:endParaRPr lang="en-US" sz="2200" dirty="0">
              <a:solidFill>
                <a:schemeClr val="tx1"/>
              </a:solidFill>
              <a:latin typeface="Helvetica" pitchFamily="2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Helvetica" pitchFamily="2" charset="0"/>
              </a:rPr>
              <a:t>Declining supply of jobs in typical tech hubs Los Angeles and San Francisco  </a:t>
            </a:r>
            <a:endParaRPr lang="en-GB" sz="2200" dirty="0">
              <a:solidFill>
                <a:schemeClr val="tx1"/>
              </a:solidFill>
              <a:latin typeface="Helvetica" pitchFamily="2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48A814E-68F3-FEC3-D79C-BD9654C9F2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0226302"/>
              </p:ext>
            </p:extLst>
          </p:nvPr>
        </p:nvGraphicFramePr>
        <p:xfrm>
          <a:off x="6096000" y="1416684"/>
          <a:ext cx="5222702" cy="4399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78551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9748752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Helvetica" pitchFamily="2" charset="0"/>
              </a:rPr>
              <a:t>POPULAR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8248" y="1467485"/>
            <a:ext cx="5217695" cy="392303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1800" dirty="0">
                <a:solidFill>
                  <a:schemeClr val="tx1"/>
                </a:solidFill>
                <a:latin typeface="Helvetica" pitchFamily="2" charset="0"/>
              </a:rPr>
              <a:t>The data shows that traditional, well-established technologies like C, Java, and Oracle still have high demand.</a:t>
            </a:r>
          </a:p>
          <a:p>
            <a:pPr>
              <a:lnSpc>
                <a:spcPct val="100000"/>
              </a:lnSpc>
            </a:pPr>
            <a:endParaRPr lang="en-GB" sz="1800" dirty="0">
              <a:solidFill>
                <a:schemeClr val="tx1"/>
              </a:solidFill>
              <a:latin typeface="Helvetica" pitchFamily="2" charset="0"/>
            </a:endParaRPr>
          </a:p>
          <a:p>
            <a:pPr>
              <a:lnSpc>
                <a:spcPct val="100000"/>
              </a:lnSpc>
            </a:pPr>
            <a:r>
              <a:rPr lang="en-GB" sz="1800" dirty="0">
                <a:solidFill>
                  <a:schemeClr val="tx1"/>
                </a:solidFill>
                <a:latin typeface="Helvetica" pitchFamily="2" charset="0"/>
              </a:rPr>
              <a:t>Emerging technologies like Python and MongoDB are gaining traction. </a:t>
            </a:r>
          </a:p>
          <a:p>
            <a:pPr>
              <a:lnSpc>
                <a:spcPct val="100000"/>
              </a:lnSpc>
            </a:pPr>
            <a:endParaRPr lang="en-GB" sz="1800" dirty="0">
              <a:solidFill>
                <a:schemeClr val="tx1"/>
              </a:solidFill>
              <a:latin typeface="Helvetica" pitchFamily="2" charset="0"/>
            </a:endParaRPr>
          </a:p>
          <a:p>
            <a:pPr>
              <a:lnSpc>
                <a:spcPct val="100000"/>
              </a:lnSpc>
            </a:pPr>
            <a:r>
              <a:rPr lang="en-GB" sz="1800" dirty="0">
                <a:solidFill>
                  <a:schemeClr val="tx1"/>
                </a:solidFill>
                <a:latin typeface="Helvetica" pitchFamily="2" charset="0"/>
              </a:rPr>
              <a:t>Demand for more niche technologies like Scala and PostgreSQL is relatively low, suggesting they are more specialized.</a:t>
            </a:r>
            <a:endParaRPr lang="en-US" sz="2400" dirty="0">
              <a:solidFill>
                <a:schemeClr val="tx1"/>
              </a:solidFill>
              <a:latin typeface="Helvetica" pitchFamily="2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730B5D5-5A12-C0D3-8A9D-316146E7E2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0073256"/>
              </p:ext>
            </p:extLst>
          </p:nvPr>
        </p:nvGraphicFramePr>
        <p:xfrm>
          <a:off x="5755943" y="1467485"/>
          <a:ext cx="5597857" cy="41205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17399028"/>
      </p:ext>
    </p:extLst>
  </p:cSld>
  <p:clrMapOvr>
    <a:masterClrMapping/>
  </p:clrMapOvr>
</p:sld>
</file>

<file path=ppt/theme/theme1.xml><?xml version="1.0" encoding="utf-8"?>
<a:theme xmlns:a="http://schemas.openxmlformats.org/drawingml/2006/main" name="SLIDE_TEMPLATE_skill_networ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IBM Plex Sans SemiBold"/>
        <a:ea typeface=""/>
        <a:cs typeface=""/>
      </a:majorFont>
      <a:minorFont>
        <a:latin typeface="IBM Plex Sans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final PPT template.pptx" id="{F28CB670-EDE3-4FD8-A231-7FA031A67C03}" vid="{06644C38-457B-4174-9AD6-1A9A0DF394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1" ma:contentTypeDescription="Create a new document." ma:contentTypeScope="" ma:versionID="4bc1015ece1c23b1ef2f55a62f11494f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efbf6837a43ed91190e40f849f23a13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DA07C5-A406-4A0D-B3E6-3856C94AC7F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7AE8FE-83F0-42D0-BB5E-14AD3FB1DE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957</TotalTime>
  <Words>712</Words>
  <Application>Microsoft Office PowerPoint</Application>
  <PresentationFormat>Widescreen</PresentationFormat>
  <Paragraphs>130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Helv</vt:lpstr>
      <vt:lpstr>Helvetica</vt:lpstr>
      <vt:lpstr>IBM Plex Mono SemiBold</vt:lpstr>
      <vt:lpstr>IBM Plex Mono Text</vt:lpstr>
      <vt:lpstr>SLIDE_TEMPLATE_skill_network</vt:lpstr>
      <vt:lpstr>Findings from the Technology Industry</vt:lpstr>
      <vt:lpstr>OUTLINE</vt:lpstr>
      <vt:lpstr>EXECUTIVE SUMMARY</vt:lpstr>
      <vt:lpstr>INTRODUCTION</vt:lpstr>
      <vt:lpstr>METHODOLOGY</vt:lpstr>
      <vt:lpstr>RESULTS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DASHBOARDS</vt:lpstr>
      <vt:lpstr>CURRENT TECHNOLOGY DASHBOARD</vt:lpstr>
      <vt:lpstr>FUTURE TECHNOLOGY DASHBOARD</vt:lpstr>
      <vt:lpstr>DEMOGRAPHICS DASHBOARD</vt:lpstr>
      <vt:lpstr>DISCUSSION</vt:lpstr>
      <vt:lpstr>OVERALL FINDINGS &amp; IMPLICATIONS</vt:lpstr>
      <vt:lpstr>CONCLUSION</vt:lpstr>
      <vt:lpstr>APPENDIX</vt:lpstr>
      <vt:lpstr> JOB POSTINGS</vt:lpstr>
      <vt:lpstr>POPULAR LANGUAGES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TRENDS</dc:title>
  <dc:creator>Steve Hord</dc:creator>
  <cp:lastModifiedBy>Raunak Kumar</cp:lastModifiedBy>
  <cp:revision>28</cp:revision>
  <dcterms:created xsi:type="dcterms:W3CDTF">2020-10-28T18:29:43Z</dcterms:created>
  <dcterms:modified xsi:type="dcterms:W3CDTF">2026-03-03T22:49:47Z</dcterms:modified>
</cp:coreProperties>
</file>